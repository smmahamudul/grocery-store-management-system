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19"/>
  </p:notesMasterIdLst>
  <p:sldIdLst>
    <p:sldId id="256" r:id="rId2"/>
    <p:sldId id="271" r:id="rId3"/>
    <p:sldId id="257" r:id="rId4"/>
    <p:sldId id="272" r:id="rId5"/>
    <p:sldId id="274" r:id="rId6"/>
    <p:sldId id="275" r:id="rId7"/>
    <p:sldId id="276" r:id="rId8"/>
    <p:sldId id="259" r:id="rId9"/>
    <p:sldId id="260" r:id="rId10"/>
    <p:sldId id="270" r:id="rId11"/>
    <p:sldId id="277" r:id="rId12"/>
    <p:sldId id="278" r:id="rId13"/>
    <p:sldId id="279" r:id="rId14"/>
    <p:sldId id="269" r:id="rId15"/>
    <p:sldId id="280" r:id="rId16"/>
    <p:sldId id="281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7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937E5-AB16-420D-9354-979E4875D73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A329A6-2E76-4598-B1B9-595BE7D69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17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68B68DA-6355-4B55-B34E-DCBFC4446130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220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43B7-FD31-42C4-9912-7F520B896748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79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346A-27D5-4B6A-9C3D-9F11CD3A35AE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53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4CD7-FF8F-42E9-9582-C3828FE748B9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3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A34EA-FBDE-42BB-98EE-FE3BFCFB6F44}" type="datetime1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5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F5D3-D1DB-4964-BD64-C61D36AB17F9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71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D8AAE-7898-409F-B6E6-6B046900F803}" type="datetime1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74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0AF9-8468-4061-8AAA-CF31AC50D8DE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3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1296E-EB41-48D2-90C6-0DE5503AEC17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73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5784-9255-4316-AE65-10B397655344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64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16789-61D1-4CE2-8A4D-7494B5DE7AB4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66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8FA8B-7BD5-4CB9-BC13-0E3AFDEF05AA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16637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BF7E-AE5B-44EA-B7FB-AB6EF0EDF8E9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941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6B470-4C70-47A1-8B05-878C8D801497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74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8AD9D-267D-40A2-9D31-BE13F46F9F79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3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0B52B-E55A-411A-ABE5-4605F7A6AED3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895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8769B-A62D-42D9-BF90-9A47946BAE78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43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20ADA-3D14-44B0-A9F5-4B8B9E78149E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0C3B3-8ADB-4E47-B314-E93D9561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947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../Mockup.html" TargetMode="External"/><Relationship Id="rId4" Type="http://schemas.openxmlformats.org/officeDocument/2006/relationships/hyperlink" Target="../Landing%20Page.htm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738" y="1880008"/>
            <a:ext cx="8791575" cy="2387600"/>
          </a:xfrm>
        </p:spPr>
        <p:txBody>
          <a:bodyPr/>
          <a:lstStyle/>
          <a:p>
            <a:pPr algn="ctr"/>
            <a:r>
              <a:rPr lang="en-US" dirty="0"/>
              <a:t>Grocery Store Management System </a:t>
            </a:r>
          </a:p>
        </p:txBody>
      </p:sp>
    </p:spTree>
    <p:extLst>
      <p:ext uri="{BB962C8B-B14F-4D97-AF65-F5344CB8AC3E}">
        <p14:creationId xmlns:p14="http://schemas.microsoft.com/office/powerpoint/2010/main" val="2304472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cs typeface="Times New Roman" panose="02020603050405020304" pitchFamily="18" charset="0"/>
              </a:rPr>
              <a:t>Presenter </a:t>
            </a:r>
            <a:r>
              <a:rPr lang="en-US" dirty="0" smtClean="0">
                <a:cs typeface="Times New Roman" panose="02020603050405020304" pitchFamily="18" charset="0"/>
              </a:rPr>
              <a:t>Information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637790"/>
            <a:ext cx="10972800" cy="1659890"/>
          </a:xfrm>
        </p:spPr>
        <p:txBody>
          <a:bodyPr/>
          <a:lstStyle/>
          <a:p>
            <a:pPr algn="ctr"/>
            <a:r>
              <a:rPr lang="en-US" b="1" dirty="0">
                <a:cs typeface="Times New Roman" panose="02020603050405020304" pitchFamily="18" charset="0"/>
              </a:rPr>
              <a:t>Name: </a:t>
            </a:r>
            <a:r>
              <a:rPr lang="en-US" dirty="0">
                <a:cs typeface="Times New Roman" panose="02020603050405020304" pitchFamily="18" charset="0"/>
              </a:rPr>
              <a:t>S M </a:t>
            </a:r>
            <a:r>
              <a:rPr lang="en-US" dirty="0" err="1">
                <a:cs typeface="Times New Roman" panose="02020603050405020304" pitchFamily="18" charset="0"/>
              </a:rPr>
              <a:t>Mahamudul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Haque</a:t>
            </a:r>
            <a:endParaRPr lang="en-US" dirty="0"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cs typeface="Times New Roman" panose="02020603050405020304" pitchFamily="18" charset="0"/>
              </a:rPr>
              <a:t>Student ID: </a:t>
            </a:r>
            <a:r>
              <a:rPr lang="en-US" dirty="0">
                <a:cs typeface="Times New Roman" panose="02020603050405020304" pitchFamily="18" charset="0"/>
              </a:rPr>
              <a:t>2677527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1370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Project: Grocery Store Management System (Python/Flask web application</a:t>
            </a:r>
            <a:r>
              <a:rPr lang="en-US" dirty="0" smtClean="0"/>
              <a:t>)</a:t>
            </a:r>
          </a:p>
          <a:p>
            <a:r>
              <a:rPr lang="en-US" dirty="0"/>
              <a:t>Objective: Create a full-stack web app to help grocery store owners manage inventory, products, categories, and customer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785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345" y="618518"/>
            <a:ext cx="6735490" cy="1478570"/>
          </a:xfrm>
        </p:spPr>
        <p:txBody>
          <a:bodyPr/>
          <a:lstStyle/>
          <a:p>
            <a:r>
              <a:rPr lang="en-US" dirty="0"/>
              <a:t>System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236424"/>
            <a:ext cx="6291354" cy="3541714"/>
          </a:xfrm>
        </p:spPr>
        <p:txBody>
          <a:bodyPr/>
          <a:lstStyle/>
          <a:p>
            <a:r>
              <a:rPr lang="en-US" dirty="0"/>
              <a:t>Three-tier architecture</a:t>
            </a:r>
          </a:p>
          <a:p>
            <a:r>
              <a:rPr lang="en-US" dirty="0"/>
              <a:t>Frontend → Flask Backend → MySQL Database</a:t>
            </a:r>
          </a:p>
          <a:p>
            <a:r>
              <a:rPr lang="en-US" dirty="0"/>
              <a:t>REST APIs handle communication</a:t>
            </a:r>
          </a:p>
          <a:p>
            <a:r>
              <a:rPr lang="en-US" dirty="0"/>
              <a:t>Data stored and retrieved through SQL queries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72"/>
          <a:stretch/>
        </p:blipFill>
        <p:spPr>
          <a:xfrm>
            <a:off x="7654835" y="953587"/>
            <a:ext cx="4310870" cy="551287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73155" y="6466466"/>
            <a:ext cx="771089" cy="365125"/>
          </a:xfrm>
        </p:spPr>
        <p:txBody>
          <a:bodyPr/>
          <a:lstStyle/>
          <a:p>
            <a:fld id="{6330C3B3-8ADB-4E47-B314-E93D9561AE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903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Diagram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474" y="1047540"/>
            <a:ext cx="5480293" cy="5280017"/>
          </a:xfr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1141410" y="1828801"/>
            <a:ext cx="4945881" cy="468131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External </a:t>
            </a:r>
            <a:r>
              <a:rPr lang="en-US" dirty="0"/>
              <a:t>Entity: Admin User (grocery store manager) – the main actor interacting with the system via a web browser.</a:t>
            </a:r>
          </a:p>
          <a:p>
            <a:r>
              <a:rPr lang="en-US" dirty="0" smtClean="0"/>
              <a:t>System </a:t>
            </a:r>
            <a:r>
              <a:rPr lang="en-US" dirty="0"/>
              <a:t>(Grocery App): Provides services like authentication, product/category management, order processing, and reporting.</a:t>
            </a:r>
          </a:p>
          <a:p>
            <a:r>
              <a:rPr lang="en-US" dirty="0" smtClean="0"/>
              <a:t>Data </a:t>
            </a:r>
            <a:r>
              <a:rPr lang="en-US" dirty="0"/>
              <a:t>Store: MySQL Database – stores all persistent data (users, products, categories, orders, etc.).</a:t>
            </a:r>
          </a:p>
          <a:p>
            <a:r>
              <a:rPr lang="en-US" dirty="0" smtClean="0"/>
              <a:t>Interactions</a:t>
            </a:r>
            <a:r>
              <a:rPr lang="en-US" dirty="0"/>
              <a:t>: Admin sends inputs (login credentials, product info, order details); system outputs data/results to Admin (confirmation, lists, reports).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047411" y="6327557"/>
            <a:ext cx="771089" cy="365125"/>
          </a:xfrm>
        </p:spPr>
        <p:txBody>
          <a:bodyPr/>
          <a:lstStyle/>
          <a:p>
            <a:fld id="{6330C3B3-8ADB-4E47-B314-E93D9561AE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1790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 (ER Diagram)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35"/>
          <a:stretch/>
        </p:blipFill>
        <p:spPr>
          <a:xfrm>
            <a:off x="2862951" y="3317965"/>
            <a:ext cx="5966535" cy="2878183"/>
          </a:xfrm>
        </p:spPr>
      </p:pic>
      <p:sp>
        <p:nvSpPr>
          <p:cNvPr id="6" name="TextBox 5"/>
          <p:cNvSpPr txBox="1"/>
          <p:nvPr/>
        </p:nvSpPr>
        <p:spPr>
          <a:xfrm>
            <a:off x="1141413" y="1946364"/>
            <a:ext cx="9905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Entities </a:t>
            </a:r>
            <a:r>
              <a:rPr lang="en-US" dirty="0"/>
              <a:t>&amp; </a:t>
            </a:r>
            <a:r>
              <a:rPr lang="en-US" dirty="0" smtClean="0"/>
              <a:t>Attributes: CATEGORY, PRODUCT, ORDER, ORDER_DETAILS</a:t>
            </a:r>
            <a:endParaRPr lang="en-US" dirty="0"/>
          </a:p>
          <a:p>
            <a:r>
              <a:rPr lang="en-US" dirty="0" smtClean="0"/>
              <a:t>Relationships: One-to-many {Category (1) → Product (M)}, One-to-many {Product (1) → </a:t>
            </a:r>
            <a:r>
              <a:rPr lang="en-US" dirty="0" err="1" smtClean="0"/>
              <a:t>Order_Details</a:t>
            </a:r>
            <a:r>
              <a:rPr lang="en-US" dirty="0" smtClean="0"/>
              <a:t> (M)};  One-to-many {Order (1) → </a:t>
            </a:r>
            <a:r>
              <a:rPr lang="en-US" dirty="0" err="1" smtClean="0"/>
              <a:t>Order_Details</a:t>
            </a:r>
            <a:r>
              <a:rPr lang="en-US" dirty="0" smtClean="0"/>
              <a:t> (M)}, Many-to-Many.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8862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300292"/>
            <a:ext cx="6059088" cy="4936683"/>
          </a:xfr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1141413" y="1802674"/>
            <a:ext cx="4175170" cy="393192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Actor: Admin</a:t>
            </a:r>
          </a:p>
          <a:p>
            <a:pPr marL="0" indent="0">
              <a:buNone/>
            </a:pPr>
            <a:r>
              <a:rPr lang="en-US" dirty="0"/>
              <a:t>Use Cases:</a:t>
            </a:r>
          </a:p>
          <a:p>
            <a:r>
              <a:rPr lang="en-US" dirty="0"/>
              <a:t>Manage Products: Add, Update, Delete, View Product</a:t>
            </a:r>
          </a:p>
          <a:p>
            <a:r>
              <a:rPr lang="en-US" dirty="0"/>
              <a:t>Manage Categories: Add, View Category</a:t>
            </a:r>
          </a:p>
          <a:p>
            <a:r>
              <a:rPr lang="en-US" dirty="0"/>
              <a:t>Manage Orders: Create (place) Order, View Orders</a:t>
            </a:r>
          </a:p>
          <a:p>
            <a:pPr marL="0" indent="0">
              <a:buNone/>
            </a:pPr>
            <a:r>
              <a:rPr lang="en-US" dirty="0"/>
              <a:t>Structure: Admin initiates each use case; “Manage Products” includes the sub-cases Add/Update/Delete/View. Similarly for categories and orders.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047411" y="6382139"/>
            <a:ext cx="771089" cy="365125"/>
          </a:xfrm>
        </p:spPr>
        <p:txBody>
          <a:bodyPr/>
          <a:lstStyle/>
          <a:p>
            <a:fld id="{6330C3B3-8ADB-4E47-B314-E93D9561AED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2632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84156"/>
          </a:xfrm>
        </p:spPr>
        <p:txBody>
          <a:bodyPr/>
          <a:lstStyle/>
          <a:p>
            <a:r>
              <a:rPr lang="en-US" dirty="0"/>
              <a:t>Functional Requirements (FRs)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1802674"/>
            <a:ext cx="10066518" cy="178961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Product Management: View products list; Add new product; Update product details; Delete product.</a:t>
            </a:r>
          </a:p>
          <a:p>
            <a:r>
              <a:rPr lang="en-US" dirty="0"/>
              <a:t>Category Management: View categories; Add new category.</a:t>
            </a:r>
          </a:p>
          <a:p>
            <a:r>
              <a:rPr lang="en-US" dirty="0"/>
              <a:t>Order Processing: Create a new order (select products, compute total, save order); View existing orders.</a:t>
            </a:r>
          </a:p>
          <a:p>
            <a:r>
              <a:rPr lang="en-US" dirty="0"/>
              <a:t>Data Handling: Calculate order total from product quantities/prices; Store order details in database.</a:t>
            </a:r>
          </a:p>
          <a:p>
            <a:r>
              <a:rPr lang="en-US" dirty="0"/>
              <a:t>Validation: Validate user inputs on all forms (e.g., no empty product names).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52" y="3592286"/>
            <a:ext cx="10332720" cy="291810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047411" y="6492875"/>
            <a:ext cx="771089" cy="365125"/>
          </a:xfrm>
        </p:spPr>
        <p:txBody>
          <a:bodyPr/>
          <a:lstStyle/>
          <a:p>
            <a:fld id="{6330C3B3-8ADB-4E47-B314-E93D9561AED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27837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Non-Functional Requirements (NFRs)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1946367"/>
            <a:ext cx="10236339" cy="250806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Performance: Fast response (target &lt; 3 seconds for key actions) to ensure smooth user experience.</a:t>
            </a:r>
          </a:p>
          <a:p>
            <a:r>
              <a:rPr lang="en-US" dirty="0"/>
              <a:t>Reliability: Data consistency and accuracy (no data loss or corruption), transactional integrity for orders.</a:t>
            </a:r>
          </a:p>
          <a:p>
            <a:r>
              <a:rPr lang="en-US" dirty="0"/>
              <a:t>Usability: Intuitive, user-friendly interface (we used a clean Bootstrap template).</a:t>
            </a:r>
          </a:p>
          <a:p>
            <a:r>
              <a:rPr lang="en-US" dirty="0"/>
              <a:t>Maintainability: Modular code structure (using DAO classes and clear MVC separation) to simplify future updates.</a:t>
            </a:r>
          </a:p>
          <a:p>
            <a:r>
              <a:rPr lang="en-US" dirty="0"/>
              <a:t>Scalability: Design supports growing data (e.g., more products) without major redesign.</a:t>
            </a:r>
          </a:p>
          <a:p>
            <a:r>
              <a:rPr lang="en-US" dirty="0"/>
              <a:t>Security: Although no login was implemented in our base project, the system is ready for future authentication/authorization layers if needed.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006"/>
          <a:stretch/>
        </p:blipFill>
        <p:spPr>
          <a:xfrm>
            <a:off x="195175" y="4446384"/>
            <a:ext cx="11798474" cy="194611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047411" y="6492875"/>
            <a:ext cx="771089" cy="365125"/>
          </a:xfrm>
        </p:spPr>
        <p:txBody>
          <a:bodyPr/>
          <a:lstStyle/>
          <a:p>
            <a:fld id="{6330C3B3-8ADB-4E47-B314-E93D9561AED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91732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cs typeface="Times New Roman" panose="02020603050405020304" pitchFamily="18" charset="0"/>
              </a:rPr>
              <a:t>Presenter </a:t>
            </a:r>
            <a:r>
              <a:rPr lang="en-US" dirty="0" smtClean="0">
                <a:cs typeface="Times New Roman" panose="02020603050405020304" pitchFamily="18" charset="0"/>
              </a:rPr>
              <a:t>Information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637790"/>
            <a:ext cx="10972800" cy="1659890"/>
          </a:xfrm>
        </p:spPr>
        <p:txBody>
          <a:bodyPr/>
          <a:lstStyle/>
          <a:p>
            <a:pPr algn="ctr"/>
            <a:r>
              <a:rPr lang="en-US" b="1" dirty="0">
                <a:cs typeface="Times New Roman" panose="02020603050405020304" pitchFamily="18" charset="0"/>
              </a:rPr>
              <a:t>Name: </a:t>
            </a:r>
            <a:r>
              <a:rPr lang="en-US" dirty="0">
                <a:cs typeface="Times New Roman" panose="02020603050405020304" pitchFamily="18" charset="0"/>
              </a:rPr>
              <a:t>Hosen </a:t>
            </a:r>
            <a:r>
              <a:rPr lang="en-US" dirty="0" err="1">
                <a:cs typeface="Times New Roman" panose="02020603050405020304" pitchFamily="18" charset="0"/>
              </a:rPr>
              <a:t>Aiyub</a:t>
            </a:r>
            <a:endParaRPr lang="en-US" dirty="0"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cs typeface="Times New Roman" panose="02020603050405020304" pitchFamily="18" charset="0"/>
              </a:rPr>
              <a:t>Student ID: </a:t>
            </a:r>
            <a:r>
              <a:rPr lang="en-US" dirty="0">
                <a:cs typeface="Times New Roman" panose="02020603050405020304" pitchFamily="18" charset="0"/>
              </a:rPr>
              <a:t>2677530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724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232219"/>
            <a:ext cx="9905998" cy="1478570"/>
          </a:xfrm>
        </p:spPr>
        <p:txBody>
          <a:bodyPr/>
          <a:lstStyle/>
          <a:p>
            <a:r>
              <a:rPr lang="en-US" dirty="0"/>
              <a:t>Project Plan (Gantt Chart)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8" y="3709629"/>
            <a:ext cx="11180308" cy="3030806"/>
          </a:xfr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1141413" y="1280160"/>
            <a:ext cx="10406153" cy="242946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Timeline: 10-week plan.</a:t>
            </a:r>
          </a:p>
          <a:p>
            <a:pPr marL="0" indent="0">
              <a:buNone/>
            </a:pPr>
            <a:r>
              <a:rPr lang="en-US" dirty="0"/>
              <a:t>Major Phases:</a:t>
            </a:r>
          </a:p>
          <a:p>
            <a:r>
              <a:rPr lang="en-US" dirty="0"/>
              <a:t>Planning &amp; Architecture Design – defined requirements, created diagrams (Context, ER, UML).</a:t>
            </a:r>
          </a:p>
          <a:p>
            <a:r>
              <a:rPr lang="en-US" dirty="0"/>
              <a:t>Database Schema Design – modeled ERD and created MySQL database (Week 2).</a:t>
            </a:r>
          </a:p>
          <a:p>
            <a:r>
              <a:rPr lang="en-US" dirty="0" smtClean="0"/>
              <a:t>Back-End </a:t>
            </a:r>
            <a:r>
              <a:rPr lang="en-US" dirty="0"/>
              <a:t>&amp; DAO Implementation – coded Flask routes and DAO classes (Weeks 4–5</a:t>
            </a:r>
            <a:r>
              <a:rPr lang="en-US" dirty="0" smtClean="0"/>
              <a:t>)..</a:t>
            </a:r>
            <a:endParaRPr lang="en-US" dirty="0"/>
          </a:p>
          <a:p>
            <a:r>
              <a:rPr lang="en-US" dirty="0"/>
              <a:t>Documentation &amp; Final Prep – prepared reports, slides, and presentation (Weeks 8–10).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299021" y="6375310"/>
            <a:ext cx="771089" cy="365125"/>
          </a:xfrm>
        </p:spPr>
        <p:txBody>
          <a:bodyPr/>
          <a:lstStyle/>
          <a:p>
            <a:fld id="{6330C3B3-8ADB-4E47-B314-E93D9561AED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9729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222321"/>
            <a:ext cx="9905998" cy="1478570"/>
          </a:xfrm>
        </p:spPr>
        <p:txBody>
          <a:bodyPr/>
          <a:lstStyle/>
          <a:p>
            <a:r>
              <a:rPr lang="en-US" dirty="0"/>
              <a:t>Requirements Traceability Matrix (RTM)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787" y="3349212"/>
            <a:ext cx="9387250" cy="3404890"/>
          </a:xfrm>
        </p:spPr>
      </p:pic>
      <p:sp>
        <p:nvSpPr>
          <p:cNvPr id="5" name="Rectangle 4"/>
          <p:cNvSpPr/>
          <p:nvPr/>
        </p:nvSpPr>
        <p:spPr>
          <a:xfrm>
            <a:off x="1141413" y="1477320"/>
            <a:ext cx="1041921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Purpose: Maps each requirement to its source, design, and testing artifacts.</a:t>
            </a:r>
          </a:p>
          <a:p>
            <a:r>
              <a:rPr lang="en-US" dirty="0"/>
              <a:t>Elements Traced:</a:t>
            </a:r>
          </a:p>
          <a:p>
            <a:r>
              <a:rPr lang="en-US" dirty="0"/>
              <a:t>Use Case: which use-case covers the </a:t>
            </a:r>
            <a:r>
              <a:rPr lang="en-US" dirty="0" smtClean="0"/>
              <a:t>requirement.</a:t>
            </a:r>
            <a:endParaRPr lang="en-US" dirty="0"/>
          </a:p>
          <a:p>
            <a:r>
              <a:rPr lang="en-US" dirty="0"/>
              <a:t>Module: which code component implements </a:t>
            </a:r>
            <a:r>
              <a:rPr lang="en-US" dirty="0" smtClean="0"/>
              <a:t>it.</a:t>
            </a:r>
            <a:endParaRPr lang="en-US" dirty="0"/>
          </a:p>
          <a:p>
            <a:r>
              <a:rPr lang="en-US" dirty="0" smtClean="0"/>
              <a:t>DB </a:t>
            </a:r>
            <a:r>
              <a:rPr lang="en-US" dirty="0"/>
              <a:t>Entity: which database tables it </a:t>
            </a:r>
            <a:r>
              <a:rPr lang="en-US" dirty="0" smtClean="0"/>
              <a:t>involves.</a:t>
            </a:r>
            <a:endParaRPr lang="en-US" dirty="0"/>
          </a:p>
          <a:p>
            <a:r>
              <a:rPr lang="en-US" dirty="0" smtClean="0"/>
              <a:t>Test </a:t>
            </a:r>
            <a:r>
              <a:rPr lang="en-US" dirty="0"/>
              <a:t>Case: which test verifies </a:t>
            </a:r>
            <a:r>
              <a:rPr lang="en-US" dirty="0" smtClean="0"/>
              <a:t>it.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047411" y="6388977"/>
            <a:ext cx="771089" cy="365125"/>
          </a:xfrm>
        </p:spPr>
        <p:txBody>
          <a:bodyPr/>
          <a:lstStyle/>
          <a:p>
            <a:fld id="{6330C3B3-8ADB-4E47-B314-E93D9561AED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0951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(Landing Page &amp; Mockup)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22" y="2314801"/>
            <a:ext cx="5244090" cy="246620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109" y="2314802"/>
            <a:ext cx="5286406" cy="2466203"/>
          </a:xfrm>
          <a:prstGeom prst="rect">
            <a:avLst/>
          </a:prstGeom>
        </p:spPr>
      </p:pic>
      <p:sp>
        <p:nvSpPr>
          <p:cNvPr id="6" name="Rectangle 5">
            <a:hlinkClick r:id="rId4" action="ppaction://hlinkfile"/>
          </p:cNvPr>
          <p:cNvSpPr/>
          <p:nvPr/>
        </p:nvSpPr>
        <p:spPr>
          <a:xfrm>
            <a:off x="2471446" y="4998717"/>
            <a:ext cx="14357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Landing Page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661239" y="5035334"/>
            <a:ext cx="8994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hlinkClick r:id="rId5" action="ppaction://hlinkfile"/>
              </a:rPr>
              <a:t>Mockup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7188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cs typeface="Times New Roman" panose="02020603050405020304" pitchFamily="18" charset="0"/>
              </a:rPr>
              <a:t>Presenter </a:t>
            </a:r>
            <a:r>
              <a:rPr lang="en-US" dirty="0" smtClean="0">
                <a:cs typeface="Times New Roman" panose="02020603050405020304" pitchFamily="18" charset="0"/>
              </a:rPr>
              <a:t>Information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637790"/>
            <a:ext cx="10972800" cy="1659890"/>
          </a:xfrm>
        </p:spPr>
        <p:txBody>
          <a:bodyPr/>
          <a:lstStyle/>
          <a:p>
            <a:pPr algn="ctr"/>
            <a:r>
              <a:rPr lang="en-US" b="1" dirty="0">
                <a:cs typeface="Times New Roman" panose="02020603050405020304" pitchFamily="18" charset="0"/>
              </a:rPr>
              <a:t>Name: </a:t>
            </a:r>
            <a:r>
              <a:rPr lang="en-US" dirty="0">
                <a:cs typeface="Times New Roman" panose="02020603050405020304" pitchFamily="18" charset="0"/>
              </a:rPr>
              <a:t>Hossain </a:t>
            </a:r>
            <a:r>
              <a:rPr lang="en-US" dirty="0" err="1">
                <a:cs typeface="Times New Roman" panose="02020603050405020304" pitchFamily="18" charset="0"/>
              </a:rPr>
              <a:t>Md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Miraj</a:t>
            </a:r>
            <a:r>
              <a:rPr lang="en-US" dirty="0"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b="1" dirty="0">
                <a:cs typeface="Times New Roman" panose="02020603050405020304" pitchFamily="18" charset="0"/>
              </a:rPr>
              <a:t>Student ID: </a:t>
            </a:r>
            <a:r>
              <a:rPr lang="en-US" dirty="0">
                <a:cs typeface="Times New Roman" panose="02020603050405020304" pitchFamily="18" charset="0"/>
              </a:rPr>
              <a:t>2677529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344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08599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Technology </a:t>
            </a:r>
            <a:r>
              <a:rPr lang="en-US" dirty="0"/>
              <a:t>Stack: Python (Flask) for back-end; HTML/CSS/Bootstrap/JavaScript for front-end; MySQL database.</a:t>
            </a:r>
          </a:p>
          <a:p>
            <a:pPr marL="0" indent="0">
              <a:buNone/>
            </a:pPr>
            <a:r>
              <a:rPr lang="en-US" dirty="0" smtClean="0"/>
              <a:t>Code </a:t>
            </a:r>
            <a:r>
              <a:rPr lang="en-US" dirty="0"/>
              <a:t>Structure:</a:t>
            </a:r>
          </a:p>
          <a:p>
            <a:r>
              <a:rPr lang="en-US" dirty="0" smtClean="0"/>
              <a:t>Controllers/Routes</a:t>
            </a:r>
            <a:r>
              <a:rPr lang="en-US" dirty="0"/>
              <a:t>: Flask routes handle web requests for each use case (e.g., /</a:t>
            </a:r>
            <a:r>
              <a:rPr lang="en-US" dirty="0" err="1"/>
              <a:t>addProduct</a:t>
            </a:r>
            <a:r>
              <a:rPr lang="en-US" dirty="0"/>
              <a:t>, /</a:t>
            </a:r>
            <a:r>
              <a:rPr lang="en-US" dirty="0" err="1"/>
              <a:t>viewOrders</a:t>
            </a:r>
            <a:r>
              <a:rPr lang="en-US" dirty="0"/>
              <a:t>).</a:t>
            </a:r>
          </a:p>
          <a:p>
            <a:r>
              <a:rPr lang="en-US" dirty="0" smtClean="0"/>
              <a:t>DAO </a:t>
            </a:r>
            <a:r>
              <a:rPr lang="en-US" dirty="0"/>
              <a:t>Layer: Separate classes handle SQL queries (e.g., </a:t>
            </a:r>
            <a:r>
              <a:rPr lang="en-US" dirty="0" err="1"/>
              <a:t>ProductDAO.create</a:t>
            </a:r>
            <a:r>
              <a:rPr lang="en-US" dirty="0"/>
              <a:t>(), </a:t>
            </a:r>
            <a:r>
              <a:rPr lang="en-US" dirty="0" err="1"/>
              <a:t>OrderDAO.getAll</a:t>
            </a:r>
            <a:r>
              <a:rPr lang="en-US" dirty="0"/>
              <a:t>()) to keep DB logic modular.</a:t>
            </a:r>
          </a:p>
          <a:p>
            <a:r>
              <a:rPr lang="en-US" dirty="0" smtClean="0"/>
              <a:t>Templates</a:t>
            </a:r>
            <a:r>
              <a:rPr lang="en-US" dirty="0"/>
              <a:t>: Jinja2 HTML templates render dynamic pages (e.g., add_product.html).</a:t>
            </a:r>
          </a:p>
          <a:p>
            <a:r>
              <a:rPr lang="en-US" dirty="0" smtClean="0"/>
              <a:t>APIs</a:t>
            </a:r>
            <a:r>
              <a:rPr lang="en-US" dirty="0"/>
              <a:t>: CRUD operations exposed as HTTP endpoints (our requirements include “CRUD API operations”).</a:t>
            </a:r>
          </a:p>
          <a:p>
            <a:r>
              <a:rPr lang="en-US" dirty="0" smtClean="0"/>
              <a:t>Validation </a:t>
            </a:r>
            <a:r>
              <a:rPr lang="en-US" dirty="0"/>
              <a:t>&amp; Testing: Forms include input validation (no empty fields). We wrote test cases for major flows (e.g., adding a product, creating an order).</a:t>
            </a:r>
          </a:p>
          <a:p>
            <a:pPr marL="0" indent="0">
              <a:buNone/>
            </a:pPr>
            <a:r>
              <a:rPr lang="en-US" dirty="0" smtClean="0"/>
              <a:t>Running </a:t>
            </a:r>
            <a:r>
              <a:rPr lang="en-US" dirty="0"/>
              <a:t>the App: (E.g., run app.py and open http://localhost:5000 in a browser; ensures MySQL service is running.)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432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Status</a:t>
            </a:r>
            <a:r>
              <a:rPr lang="en-US" dirty="0"/>
              <a:t>: All core objectives implemented and tested. Functionalities work as intended (as shown in testing and the demo).</a:t>
            </a:r>
          </a:p>
          <a:p>
            <a:r>
              <a:rPr lang="en-US" dirty="0" smtClean="0"/>
              <a:t>Documentation</a:t>
            </a:r>
            <a:r>
              <a:rPr lang="en-US" dirty="0"/>
              <a:t>: Comprehensive models and artifacts (Context &amp; Data diagrams, UML, Gantt, RTM) are complete.</a:t>
            </a:r>
          </a:p>
          <a:p>
            <a:r>
              <a:rPr lang="en-US" dirty="0" smtClean="0"/>
              <a:t>Learnings</a:t>
            </a:r>
            <a:r>
              <a:rPr lang="en-US" dirty="0"/>
              <a:t>: We gained full-stack development experience: designing a DB schema, building APIs, and creating a user-friendly UI.</a:t>
            </a:r>
          </a:p>
          <a:p>
            <a:r>
              <a:rPr lang="en-US" dirty="0" smtClean="0"/>
              <a:t>Future </a:t>
            </a:r>
            <a:r>
              <a:rPr lang="en-US" dirty="0"/>
              <a:t>Improvements: Possible enhancements include user authentication/login, advanced search filters, and better reporting (e.g., sales analytics).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969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350" y="2682449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6000" dirty="0" smtClean="0"/>
              <a:t>THANK YOU</a:t>
            </a:r>
            <a:endParaRPr 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C3B3-8ADB-4E47-B314-E93D9561AED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329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360</TotalTime>
  <Words>904</Words>
  <Application>Microsoft Office PowerPoint</Application>
  <PresentationFormat>Widescreen</PresentationFormat>
  <Paragraphs>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Times New Roman</vt:lpstr>
      <vt:lpstr>Trebuchet MS</vt:lpstr>
      <vt:lpstr>Tw Cen MT</vt:lpstr>
      <vt:lpstr>Circuit</vt:lpstr>
      <vt:lpstr>Grocery Store Management System </vt:lpstr>
      <vt:lpstr>Presenter Information</vt:lpstr>
      <vt:lpstr>Introduction </vt:lpstr>
      <vt:lpstr>System Architecture Diagram</vt:lpstr>
      <vt:lpstr>Context Diagram </vt:lpstr>
      <vt:lpstr>Database Design (ER Diagram)</vt:lpstr>
      <vt:lpstr>Use Case Diagram</vt:lpstr>
      <vt:lpstr>Functional Requirements (FRs)</vt:lpstr>
      <vt:lpstr>Non-Functional Requirements (NFRs)</vt:lpstr>
      <vt:lpstr>Presenter Information</vt:lpstr>
      <vt:lpstr>Project Plan (Gantt Chart)</vt:lpstr>
      <vt:lpstr>Requirements Traceability Matrix (RTM)</vt:lpstr>
      <vt:lpstr>User Interface (Landing Page &amp; Mockup)</vt:lpstr>
      <vt:lpstr>Presenter Information</vt:lpstr>
      <vt:lpstr>Implementation Highlights</vt:lpstr>
      <vt:lpstr>Conclusion &amp; 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Mahmudul Nion</dc:creator>
  <cp:lastModifiedBy>Mahmudul Nion</cp:lastModifiedBy>
  <cp:revision>15</cp:revision>
  <dcterms:created xsi:type="dcterms:W3CDTF">2026-05-26T16:44:37Z</dcterms:created>
  <dcterms:modified xsi:type="dcterms:W3CDTF">2026-06-10T03:02:58Z</dcterms:modified>
</cp:coreProperties>
</file>